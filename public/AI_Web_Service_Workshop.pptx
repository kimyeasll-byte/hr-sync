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안녕하세요, 팀원 여러분! 오늘 워크숍의 제목은 '아이디어만 있으면 누구나 웹서비스를 만드는 법'입니다. 오늘 파이썬이나 자바스크립트 문법은 단 한 줄도 외우지 않습니다. 대신 우리가 매일 겪는 귀찮은 업무를 AI라는 천재 개발자에게 명확하게 지시해서 단 며칠 만에 실제 서비스로 만들어내는 디렉팅 방법을 마스터하실 겁니다!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우리가 회사에서 일하다 보면 이런 생각 진짜 많이 하죠. 지금 채팅창에 여러분이 매일 하면서 귀찮은 업무 하나씩만 남겨주세요. 그 아이디어가 오늘 우리 실습의 진짜 주인공이 될 겁니다!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시대에는 공식이 완전히 바뀌었습니다. 코딩은 AI가 1초 만에 짭니다. 진짜 중요한 건 사내 업무 룰과 사용자 동선입니다. 여러분은 코더가 아니라 AI 개발팀을 거느린 수석 PM입니다!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우리가 실제로 밟았던 6단계 지도입니다. 많은 분들이 아이디어에서 바로 코딩으로 점프하다 망합니다. 가장 중요한 마법은 1단계, AI에게 나를 인터뷰하게 만드는 기술입니다.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비개발자는 본인이 뭘 모르는지 모릅니다. 그래서 AI에게 역으로 나를 집요하게 인터뷰해달라고 해야 합니다. 이 질문에 답을 하다 보면 머릿속의 안개가 걷힙니다.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프로젝트가 망하는 1위 원인은 '이것도 넣고 저것도 넣자'입니다. 안 할 일을 확실히 쳐내야 3일 만에 배포할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디자인 감각이 없어도 됩니다. AI에게 딱 3단어만 던지세요. 'Apple 스타일, 라이트 그레이 배경, 카드형 UI'. 규칙을 미리 정해주면 AI가 페이지를 10개 만들어도 일관되게 세련됩니다.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백문이 불여일견입니다. 지금 노트북을 여시고 주소로 접속해주세요! 로그인 없이 바로 열리고 가이드 팝업이 뜹니다. 미션 1번부터 4번까지 직접 눌러보세요!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많은 분들이 '이런 거 만들면 서버비 얼마 나와요?' 물어보십니다. 놀랍게도 현재 서버 유지비는 0원입니다. 회사 예산 결재 품의 올릴 필요 없이 내 아이디어를 무료로 검증할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이제 여러분 차례입니다! 짝꿍과 2인 1조가 되어 슬라이드의 프롬프트를 AI에게 던져보세요. 10분 뒤에 여러분만의 1장짜리 PRD가 완성될 겁니다. 타이머 시작합니다!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자, 어느 팀에서 먼저 자랑해주실까요? 단 10분 만에 실제 시스템을 만들 수 있는 설계도가 나왔습니다. 이제 AI에게 이 PRD대로 첫 화면 코드를 짜달라고 하면 끝납니다!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 만들어보실 때 마주칠 함정 3가지만 기억하세요. 첫째, 욕심내지 말고 벽돌 쌓기. 둘째, 에러 나면 에러 복붙해서 AI 던지기!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혼자 쓰고 버리는 장난감과 진짜 사내 프로젝트의 차이는 문서화에 있습니다. 팀원들이 쓸 수 있도록 팝업 매뉴얼을 만드는 것이 프로덕트의 완성입니다.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지금까지 80분 동안 전과정을 살펴보셨습니다. 평소 궁금하셨던 점이나 내 업무에 적용할 때 고민되는 점 편하게 질문해주세요!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워크숍의 마지막 메시지입니다. 가장 훌륭한 아이디어는 현업의 여러분 고민에서 출발합니다. 오늘 뽑아내신 그 1장의 PRD로 오늘 퇴근 전에 AI에게 '첫 화면 만들어줘'라고 한마디만 던져보세요. 경청해주셔서 감사합니다!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6696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645920"/>
            <a:ext cx="8869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 b="1">
                <a:solidFill>
                  <a:srgbClr val="0071E3"/>
                </a:solidFill>
                <a:latin typeface="Malgun Gothic"/>
              </a:defRPr>
            </a:pPr>
            <a:r>
              <a:t>사내 업무 혁신을 위한 AI 엔지니어링 워크숍</a:t>
            </a:r>
          </a:p>
          <a:p>
            <a:pPr>
              <a:spcAft>
                <a:spcPts val="2000"/>
              </a:spcAft>
              <a:defRPr sz="3600" b="1">
                <a:solidFill>
                  <a:srgbClr val="0F172A"/>
                </a:solidFill>
                <a:latin typeface="Malgun Gothic"/>
              </a:defRPr>
            </a:pPr>
            <a:r>
              <a:t>아이디어만 있으면 3일 만에</a:t>
            </a:r>
            <a:br/>
            <a:r>
              <a:t>실제 웹 서비스를 만드는 법</a:t>
            </a:r>
          </a:p>
          <a:p>
            <a:pPr>
              <a:spcAft>
                <a:spcPts val="3000"/>
              </a:spcAft>
              <a:defRPr sz="1600">
                <a:solidFill>
                  <a:srgbClr val="64748B"/>
                </a:solidFill>
                <a:latin typeface="Malgun Gothic"/>
              </a:defRPr>
            </a:pPr>
            <a:r>
              <a:t>코딩 문법 대신 AI를 내 파트너(Pair Programmer)로 부리는 5단계 실전 가이드</a:t>
            </a:r>
          </a:p>
          <a:p>
            <a:pPr>
              <a:defRPr sz="1300" b="1">
                <a:solidFill>
                  <a:srgbClr val="1E293B"/>
                </a:solidFill>
                <a:latin typeface="Malgun Gothic"/>
              </a:defRPr>
            </a:pPr>
            <a:r>
              <a:t>발표자: (주)파워넷 인사기획팀 / HR Sync 개발 TF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560320" cy="320040"/>
          </a:xfrm>
          <a:prstGeom prst="roundRect">
            <a:avLst/>
          </a:prstGeom>
          <a:solidFill>
            <a:srgbClr val="EBF5FF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71E3"/>
                </a:solidFill>
                <a:latin typeface="Malgun Gothic"/>
              </a:defRPr>
            </a:pPr>
            <a:r>
              <a:t>• PART 1. PROBLEM SHARING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Malgun Gothic"/>
              </a:defRPr>
            </a:pPr>
            <a:r>
              <a:t>우리의 하루는 왜 엑셀과 카톡으로 끝나는가?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600"/>
              </a:spcAft>
              <a:defRPr sz="1600" b="1">
                <a:solidFill>
                  <a:srgbClr val="EF4444"/>
                </a:solidFill>
                <a:latin typeface="Malgun Gothic"/>
              </a:defRPr>
            </a:pPr>
            <a:r>
              <a:t>❌ 엑셀 수작업과 사내 IT의 현실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  <a:latin typeface="Malgun Gothic"/>
              </a:defRPr>
            </a:pPr>
            <a:r>
              <a:t>• 입퇴사, 비품 대여, 일정 취합, 경비 정산의 무한 반복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  <a:latin typeface="Malgun Gothic"/>
              </a:defRPr>
            </a:pPr>
            <a:r>
              <a:t>• 전산팀 요청 시: '우선순위 밀렸습니다. 6개월 대기'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  <a:latin typeface="Malgun Gothic"/>
              </a:defRPr>
            </a:pPr>
            <a:r>
              <a:t>• 외주 SI 개발 견적: 수천만 원 &amp; 긴 승인 과정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  <a:latin typeface="Malgun Gothic"/>
              </a:defRPr>
            </a:pPr>
            <a:r>
              <a:t>• 결국 담당자는 오늘도 엑셀을 열고 야근 시작...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600"/>
              </a:spcAft>
              <a:defRPr sz="1600" b="1">
                <a:solidFill>
                  <a:srgbClr val="0071E3"/>
                </a:solidFill>
                <a:latin typeface="Malgun Gothic"/>
              </a:defRPr>
            </a:pPr>
            <a:r>
              <a:t>💬 3분 참여 미션: 슬랙/채팅창에 적어주세요!</a:t>
            </a:r>
          </a:p>
          <a:p>
            <a:pPr>
              <a:spcAft>
                <a:spcPts val="400"/>
              </a:spcAft>
              <a:defRPr sz="1200" b="0">
                <a:solidFill>
                  <a:srgbClr val="0F172A"/>
                </a:solidFill>
                <a:latin typeface="Malgun Gothic"/>
              </a:defRPr>
            </a:pPr>
            <a:r>
              <a:t>"내 업무 중 가장 전산화하고 싶은 귀찮은 일 1가지"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Malgun Gothic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0F172A"/>
                </a:solidFill>
                <a:latin typeface="Malgun Gothic"/>
              </a:defRPr>
            </a:pPr>
            <a:r>
              <a:t>예시:</a:t>
            </a:r>
          </a:p>
          <a:p>
            <a:pPr>
              <a:spcAft>
                <a:spcPts val="4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1. 법인차량 / 회의실 실시간 예약 및 중복 방지</a:t>
            </a:r>
          </a:p>
          <a:p>
            <a:pPr>
              <a:spcAft>
                <a:spcPts val="4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2. 신규 입사자 PC/계정/출입증 원터치 배정</a:t>
            </a:r>
          </a:p>
          <a:p>
            <a:pPr>
              <a:spcAft>
                <a:spcPts val="4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3. 표준 계약서 필수 조항 자동 검토</a:t>
            </a:r>
          </a:p>
          <a:p>
            <a:pPr>
              <a:spcAft>
                <a:spcPts val="4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4. 영수증 사진 업로드 &amp; OCR 경비 정산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  <a:latin typeface="Malgun Gothic"/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👉 지금 채팅창에 남겨주신 아이디어가 오늘 실습의 재료가 됩니다!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560320" cy="320040"/>
          </a:xfrm>
          <a:prstGeom prst="roundRect">
            <a:avLst/>
          </a:prstGeom>
          <a:solidFill>
            <a:srgbClr val="EBF5FF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71E3"/>
                </a:solidFill>
                <a:latin typeface="Malgun Gothic"/>
              </a:defRPr>
            </a:pPr>
            <a:r>
              <a:t>• PART 2. PARADIGM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Malgun Gothic"/>
              </a:defRPr>
            </a:pPr>
            <a:r>
              <a:t>코더(Coder)가 아닌 디렉터(Director)가 되자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 b="1">
                <a:solidFill>
                  <a:srgbClr val="64748B"/>
                </a:solidFill>
                <a:latin typeface="Malgun Gothic"/>
              </a:defRPr>
            </a:pPr>
            <a:r>
              <a:t>과거: 개발자가 왕이었던 시대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  <a:latin typeface="Malgun Gothic"/>
              </a:defRPr>
            </a:pPr>
            <a:r>
              <a:t>• 문법(Syntax)을 외워야 서비스 개발 가능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  <a:latin typeface="Malgun Gothic"/>
              </a:defRPr>
            </a:pPr>
            <a:r>
              <a:t>• 기획자 ➔ 디자이너 ➔ 개발자 ➔ QA의 긴 파이프라인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  <a:latin typeface="Malgun Gothic"/>
              </a:defRPr>
            </a:pPr>
            <a:r>
              <a:t>• 수정 한 번 하려면 개발자 눈치 봐야 함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  <a:latin typeface="Malgun Gothic"/>
              </a:defRPr>
            </a:pPr>
            <a:r>
              <a:t>• 현업의 맥락을 모르는 개발자가 엉뚱한 화면을 만듦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 b="1">
                <a:solidFill>
                  <a:srgbClr val="10B981"/>
                </a:solidFill>
                <a:latin typeface="Malgun Gothic"/>
              </a:defRPr>
            </a:pPr>
            <a:r>
              <a:t>현재: 업무를 아는 기획자가 왕인 시대</a:t>
            </a:r>
          </a:p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t>• 코딩은 AI가 1초 만에 100줄씩 대신 작성</a:t>
            </a:r>
          </a:p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t>• 진짜 중요한 것: '업무 규칙과 사용자 동선 정의'</a:t>
            </a:r>
          </a:p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t>• 현업 실무자 = AI 개발팀을 지휘하는 수석 PM</a:t>
            </a:r>
          </a:p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t>• '이 버튼 위치 바꿔줘', '엑셀 다운로드 추가해줘'로 즉시 개선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560320" cy="320040"/>
          </a:xfrm>
          <a:prstGeom prst="roundRect">
            <a:avLst/>
          </a:prstGeom>
          <a:solidFill>
            <a:srgbClr val="EBF5FF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71E3"/>
                </a:solidFill>
                <a:latin typeface="Malgun Gothic"/>
              </a:defRPr>
            </a:pPr>
            <a:r>
              <a:t>• PART 2. THE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Malgun Gothic"/>
              </a:defRPr>
            </a:pPr>
            <a:r>
              <a:t>웹서비스 제작 6단계 엔드투엔드(End-to-End) 지도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71E3"/>
                </a:solidFill>
                <a:latin typeface="Malgun Gothic"/>
              </a:defRPr>
            </a:pPr>
            <a:r>
              <a:t>0단계</a:t>
            </a:r>
          </a:p>
          <a:p>
            <a:pPr>
              <a:spcAft>
                <a:spcPts val="600"/>
              </a:spcAft>
              <a:defRPr sz="1500" b="1">
                <a:solidFill>
                  <a:srgbClr val="0F172A"/>
                </a:solidFill>
                <a:latin typeface="Malgun Gothic"/>
              </a:defRPr>
            </a:pPr>
            <a:r>
              <a:t>아이디어 발제</a:t>
            </a:r>
          </a:p>
          <a:p>
            <a:pPr>
              <a:defRPr sz="1100">
                <a:solidFill>
                  <a:srgbClr val="64748B"/>
                </a:solidFill>
                <a:latin typeface="Malgun Gothic"/>
              </a:defRPr>
            </a:pPr>
            <a:r>
              <a:t>현업의 고통과 비효율 털어놓기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73736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71E3"/>
                </a:solidFill>
                <a:latin typeface="Malgun Gothic"/>
              </a:defRPr>
            </a:pPr>
            <a:r>
              <a:t>1단계</a:t>
            </a:r>
          </a:p>
          <a:p>
            <a:pPr>
              <a:spcAft>
                <a:spcPts val="600"/>
              </a:spcAft>
              <a:defRPr sz="1500" b="1">
                <a:solidFill>
                  <a:srgbClr val="0F172A"/>
                </a:solidFill>
                <a:latin typeface="Malgun Gothic"/>
              </a:defRPr>
            </a:pPr>
            <a:r>
              <a:t>AI 심층 역인터뷰</a:t>
            </a:r>
          </a:p>
          <a:p>
            <a:pPr>
              <a:defRPr sz="1100">
                <a:solidFill>
                  <a:srgbClr val="64748B"/>
                </a:solidFill>
                <a:latin typeface="Malgun Gothic"/>
              </a:defRPr>
            </a:pPr>
            <a:r>
              <a:t>AI가 나를 인터뷰해 빈틈을 파냄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73736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71E3"/>
                </a:solidFill>
                <a:latin typeface="Malgun Gothic"/>
              </a:defRPr>
            </a:pPr>
            <a:r>
              <a:t>2단계</a:t>
            </a:r>
          </a:p>
          <a:p>
            <a:pPr>
              <a:spcAft>
                <a:spcPts val="600"/>
              </a:spcAft>
              <a:defRPr sz="1500" b="1">
                <a:solidFill>
                  <a:srgbClr val="0F172A"/>
                </a:solidFill>
                <a:latin typeface="Malgun Gothic"/>
              </a:defRPr>
            </a:pPr>
            <a:r>
              <a:t>도메인 &amp; PRD 문서</a:t>
            </a:r>
          </a:p>
          <a:p>
            <a:pPr>
              <a:defRPr sz="1100">
                <a:solidFill>
                  <a:srgbClr val="64748B"/>
                </a:solidFill>
                <a:latin typeface="Malgun Gothic"/>
              </a:defRPr>
            </a:pPr>
            <a:r>
              <a:t>할 일과 안 할 일의 경계 긋기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71E3"/>
                </a:solidFill>
                <a:latin typeface="Malgun Gothic"/>
              </a:defRPr>
            </a:pPr>
            <a:r>
              <a:t>3단계</a:t>
            </a:r>
          </a:p>
          <a:p>
            <a:pPr>
              <a:spcAft>
                <a:spcPts val="600"/>
              </a:spcAft>
              <a:defRPr sz="1500" b="1">
                <a:solidFill>
                  <a:srgbClr val="0F172A"/>
                </a:solidFill>
                <a:latin typeface="Malgun Gothic"/>
              </a:defRPr>
            </a:pPr>
            <a:r>
              <a:t>UX/UI 디자인 토큰</a:t>
            </a:r>
          </a:p>
          <a:p>
            <a:pPr>
              <a:defRPr sz="1100">
                <a:solidFill>
                  <a:srgbClr val="64748B"/>
                </a:solidFill>
                <a:latin typeface="Malgun Gothic"/>
              </a:defRPr>
            </a:pPr>
            <a:r>
              <a:t>애플 스타일 라이트 모드 규칙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402336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71E3"/>
                </a:solidFill>
                <a:latin typeface="Malgun Gothic"/>
              </a:defRPr>
            </a:pPr>
            <a:r>
              <a:t>4단계</a:t>
            </a:r>
          </a:p>
          <a:p>
            <a:pPr>
              <a:spcAft>
                <a:spcPts val="600"/>
              </a:spcAft>
              <a:defRPr sz="1500" b="1">
                <a:solidFill>
                  <a:srgbClr val="0F172A"/>
                </a:solidFill>
                <a:latin typeface="Malgun Gothic"/>
              </a:defRPr>
            </a:pPr>
            <a:r>
              <a:t>기술 아키텍처 (ADR)</a:t>
            </a:r>
          </a:p>
          <a:p>
            <a:pPr>
              <a:defRPr sz="1100">
                <a:solidFill>
                  <a:srgbClr val="64748B"/>
                </a:solidFill>
                <a:latin typeface="Malgun Gothic"/>
              </a:defRPr>
            </a:pPr>
            <a:r>
              <a:t>무료 클라우드 스택 (0원) 결정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402336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71E3"/>
                </a:solidFill>
                <a:latin typeface="Malgun Gothic"/>
              </a:defRPr>
            </a:pPr>
            <a:r>
              <a:t>5단계</a:t>
            </a:r>
          </a:p>
          <a:p>
            <a:pPr>
              <a:spcAft>
                <a:spcPts val="600"/>
              </a:spcAft>
              <a:defRPr sz="1500" b="1">
                <a:solidFill>
                  <a:srgbClr val="0F172A"/>
                </a:solidFill>
                <a:latin typeface="Malgun Gothic"/>
              </a:defRPr>
            </a:pPr>
            <a:r>
              <a:t>점진적 구현 (Iteration)</a:t>
            </a:r>
          </a:p>
          <a:p>
            <a:pPr>
              <a:defRPr sz="1100">
                <a:solidFill>
                  <a:srgbClr val="64748B"/>
                </a:solidFill>
                <a:latin typeface="Malgun Gothic"/>
              </a:defRPr>
            </a:pPr>
            <a:r>
              <a:t>벽돌 쌓듯이 5일 만에 완성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560320" cy="320040"/>
          </a:xfrm>
          <a:prstGeom prst="roundRect">
            <a:avLst/>
          </a:prstGeom>
          <a:solidFill>
            <a:srgbClr val="EBF5FF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71E3"/>
                </a:solidFill>
                <a:latin typeface="Malgun Gothic"/>
              </a:defRPr>
            </a:pPr>
            <a:r>
              <a:t>• PART 2. CORE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Malgun Gothic"/>
              </a:defRPr>
            </a:pPr>
            <a:r>
              <a:t>1급 비밀: AI에게 나를 집요하게 취조(Grill-Me)하게 하라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93C5FD"/>
                </a:solidFill>
                <a:latin typeface="Malgun Gothic"/>
              </a:defRPr>
            </a:pPr>
            <a:r>
              <a:t>🎯 마법의 인터뷰 요청 프롬프트 (Golden Prompt)</a:t>
            </a:r>
          </a:p>
          <a:p>
            <a:pPr>
              <a:defRPr sz="1200">
                <a:solidFill>
                  <a:srgbClr val="F1F5F9"/>
                </a:solidFill>
                <a:latin typeface="Malgun Gothic"/>
              </a:defRPr>
            </a:pPr>
            <a:r>
              <a:t>"너는 15년 차 수석 프로덕트 매니저(PM)이자 아키텍트야. 내가 말한 아이디어를 웹서비스로 만들기 위해 필요한 질문을 나에게 5개씩 던져줘. 기술 용어 쓰지 말고, 현업의 업무 프로세스, 대상 사용자, 예외 상황에 대해 나를 인터뷰해줘. 내 답변을 들은 뒤 다음 질문을 해."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33832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0071E3"/>
                </a:solidFill>
                <a:latin typeface="Malgun Gothic"/>
              </a:defRPr>
            </a:pPr>
            <a:r>
              <a:t>질문 1. 사업장과 도메인은?</a:t>
            </a:r>
          </a:p>
          <a:p>
            <a:pPr>
              <a:defRPr sz="1100">
                <a:solidFill>
                  <a:srgbClr val="1E293B"/>
                </a:solidFill>
                <a:latin typeface="Malgun Gothic"/>
              </a:defRPr>
            </a:pPr>
            <a:r>
              <a:t>➔ 수원 연구소, 서울 본사 2곳이며 @gopowernet.com 체계 도출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3931920"/>
            <a:ext cx="33832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0071E3"/>
                </a:solidFill>
                <a:latin typeface="Malgun Gothic"/>
              </a:defRPr>
            </a:pPr>
            <a:r>
              <a:t>질문 2. 화면 분리는 어떻게?</a:t>
            </a:r>
          </a:p>
          <a:p>
            <a:pPr>
              <a:defRPr sz="1100">
                <a:solidFill>
                  <a:srgbClr val="1E293B"/>
                </a:solidFill>
                <a:latin typeface="Malgun Gothic"/>
              </a:defRPr>
            </a:pPr>
            <a:r>
              <a:t>➔ 신입사원은 스마트폰 모바일 포털, 관리자는 PC 대시보드로 분리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3931920"/>
            <a:ext cx="33832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0071E3"/>
                </a:solidFill>
                <a:latin typeface="Malgun Gothic"/>
              </a:defRPr>
            </a:pPr>
            <a:r>
              <a:t>질문 3. 설문 주기는 언제?</a:t>
            </a:r>
          </a:p>
          <a:p>
            <a:pPr>
              <a:defRPr sz="1100">
                <a:solidFill>
                  <a:srgbClr val="1E293B"/>
                </a:solidFill>
                <a:latin typeface="Malgun Gothic"/>
              </a:defRPr>
            </a:pPr>
            <a:r>
              <a:t>➔ 첫날엔 필요 없고, 1M/3M/6M/1Y 주기로 이메일 자동 발송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560320" cy="320040"/>
          </a:xfrm>
          <a:prstGeom prst="roundRect">
            <a:avLst/>
          </a:prstGeom>
          <a:solidFill>
            <a:srgbClr val="EBF5FF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71E3"/>
                </a:solidFill>
                <a:latin typeface="Malgun Gothic"/>
              </a:defRPr>
            </a:pPr>
            <a:r>
              <a:t>• PART 2. PRD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Malgun Gothic"/>
              </a:defRPr>
            </a:pPr>
            <a:r>
              <a:t>PRD로 선 긋기: 할 일(In-Scope)과 안 할 일(Out-of-Scope)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500" b="1">
                <a:solidFill>
                  <a:srgbClr val="10B981"/>
                </a:solidFill>
                <a:latin typeface="Malgun Gothic"/>
              </a:defRPr>
            </a:pPr>
            <a:r>
              <a:t>⭕ 이번에 반드시 해결할 일 (In-Scope)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Malgun Gothic"/>
              </a:defRPr>
            </a:pPr>
            <a:r>
              <a:t>1. 원터치 계정 &amp; 사번 자동 발급 (다우오피스/SSO)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Malgun Gothic"/>
              </a:defRPr>
            </a:pPr>
            <a:r>
              <a:t>2. IT 장비 3종(노트북, 모니터, 출입증) 자동 배정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Malgun Gothic"/>
              </a:defRPr>
            </a:pPr>
            <a:r>
              <a:t>3. 신입사원 Day-1 모바일 포털 (준비물, 사진 접수)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Malgun Gothic"/>
              </a:defRPr>
            </a:pPr>
            <a:r>
              <a:t>4. 4단계 펄스 서베이 &amp; AI 조기퇴사 위험 신호 분석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Malgun Gothic"/>
              </a:defRPr>
            </a:pPr>
            <a:r>
              <a:t>5. 퇴사 시 원클릭 계정 차단 &amp; 자산 일괄 반납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500" b="1">
                <a:solidFill>
                  <a:srgbClr val="EF4444"/>
                </a:solidFill>
                <a:latin typeface="Malgun Gothic"/>
              </a:defRPr>
            </a:pPr>
            <a:r>
              <a:t>❌ 이번에 절대 안 할 일 (Out-of-Scope)</a:t>
            </a:r>
          </a:p>
          <a:p>
            <a:pPr>
              <a:spcAft>
                <a:spcPts val="800"/>
              </a:spcAft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1. 실물 택배 배송 실시간 트래킹 (과도한 복잡도)</a:t>
            </a:r>
          </a:p>
          <a:p>
            <a:pPr>
              <a:spcAft>
                <a:spcPts val="800"/>
              </a:spcAft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2. 사내 급여/퇴직금 자동 연동 (인사 보안 정책)</a:t>
            </a:r>
          </a:p>
          <a:p>
            <a:pPr>
              <a:spcAft>
                <a:spcPts val="800"/>
              </a:spcAft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3. 대면 OJT 동영상 스트리밍 플랫폼 구축</a:t>
            </a:r>
          </a:p>
          <a:p>
            <a:pPr>
              <a:spcAft>
                <a:spcPts val="800"/>
              </a:spcAft>
              <a:defRPr sz="1200" b="0">
                <a:solidFill>
                  <a:srgbClr val="1E293B"/>
                </a:solidFill>
                <a:latin typeface="Malgun Gothic"/>
              </a:defRPr>
            </a:pPr>
          </a:p>
          <a:p>
            <a:pPr>
              <a:spcAft>
                <a:spcPts val="800"/>
              </a:spcAft>
              <a:defRPr sz="1200" b="1">
                <a:solidFill>
                  <a:srgbClr val="EF4444"/>
                </a:solidFill>
                <a:latin typeface="Malgun Gothic"/>
              </a:defRPr>
            </a:pPr>
            <a:r>
              <a:t>💡 성공의 비결: 욕심부리지 않고 안 할 일을 확실히 쳐내야 3일 만에 완성할 수 있습니다!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560320" cy="320040"/>
          </a:xfrm>
          <a:prstGeom prst="roundRect">
            <a:avLst/>
          </a:prstGeom>
          <a:solidFill>
            <a:srgbClr val="EBF5FF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71E3"/>
                </a:solidFill>
                <a:latin typeface="Malgun Gothic"/>
              </a:defRPr>
            </a:pPr>
            <a:r>
              <a:t>• PART 2. DESIGN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Malgun Gothic"/>
              </a:defRPr>
            </a:pPr>
            <a:r>
              <a:t>디자인 룰 먼저 박기: 애플 스타일 라이트 모드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400" b="1">
                <a:solidFill>
                  <a:srgbClr val="0071E3"/>
                </a:solidFill>
                <a:latin typeface="Malgun Gothic"/>
              </a:defRPr>
            </a:pPr>
            <a:r>
              <a:t>규칙 1. 배경 &amp; 표면 대비</a:t>
            </a:r>
          </a:p>
          <a:p>
            <a:pPr>
              <a:defRPr sz="1200">
                <a:solidFill>
                  <a:srgbClr val="1E293B"/>
                </a:solidFill>
                <a:latin typeface="Malgun Gothic"/>
              </a:defRPr>
            </a:pPr>
            <a:r>
              <a:t>배경: 소프트 라이트 그레이 (#F5F5F7)</a:t>
            </a:r>
            <a:br/>
            <a:r>
              <a:t>카드/표면: 순백색 (#FFFFFF)</a:t>
            </a:r>
            <a:br/>
            <a:r>
              <a:t>부드럽고 눈이 편안한 전문가용 캔버스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73736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400" b="1">
                <a:solidFill>
                  <a:srgbClr val="0071E3"/>
                </a:solidFill>
                <a:latin typeface="Malgun Gothic"/>
              </a:defRPr>
            </a:pPr>
            <a:r>
              <a:t>규칙 2. 포인트 컬러 (Accent)</a:t>
            </a:r>
          </a:p>
          <a:p>
            <a:pPr>
              <a:defRPr sz="1200">
                <a:solidFill>
                  <a:srgbClr val="1E293B"/>
                </a:solidFill>
                <a:latin typeface="Malgun Gothic"/>
              </a:defRPr>
            </a:pPr>
            <a:r>
              <a:t>핵심 액션: 애플 시스템 블루 (#0071E3)</a:t>
            </a:r>
            <a:br/>
            <a:r>
              <a:t>성공/완료: 에메랄드 그린 (#10B981)</a:t>
            </a:r>
            <a:br/>
            <a:r>
              <a:t>주의/경고: 로즈 레드 (#EF4444)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73736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400" b="1">
                <a:solidFill>
                  <a:srgbClr val="0071E3"/>
                </a:solidFill>
                <a:latin typeface="Malgun Gothic"/>
              </a:defRPr>
            </a:pPr>
            <a:r>
              <a:t>규칙 3. 형태 및 아이콘</a:t>
            </a:r>
          </a:p>
          <a:p>
            <a:pPr>
              <a:defRPr sz="1200">
                <a:solidFill>
                  <a:srgbClr val="1E293B"/>
                </a:solidFill>
                <a:latin typeface="Malgun Gothic"/>
              </a:defRPr>
            </a:pPr>
            <a:r>
              <a:t>모서리 둥글기: 12px ~ 16px (Card Radius)</a:t>
            </a:r>
            <a:br/>
            <a:r>
              <a:t>아이콘: Lucide Icons 일관 적용</a:t>
            </a:r>
            <a:br/>
            <a:r>
              <a:t>그리드: 4px 단위 패딩 &amp; 마진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560320" cy="320040"/>
          </a:xfrm>
          <a:prstGeom prst="roundRect">
            <a:avLst/>
          </a:prstGeom>
          <a:solidFill>
            <a:srgbClr val="EBF5FF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71E3"/>
                </a:solidFill>
                <a:latin typeface="Malgun Gothic"/>
              </a:defRPr>
            </a:pPr>
            <a:r>
              <a:t>• PART 3. HANDS-ON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Malgun Gothic"/>
              </a:defRPr>
            </a:pPr>
            <a:r>
              <a:t>실습 1 (Hands-on): 파워넷 HR Sync 10분 투어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9144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71E3"/>
                </a:solidFill>
                <a:latin typeface="Malgun Gothic"/>
              </a:defRPr>
            </a:pPr>
            <a:r>
              <a:t>🌐 지금 브라우저를 열고 접속하세요! 👉 https://hr-sync-delta.vercel.app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52120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t>미션 1. 원터치 입사 실행</a:t>
            </a:r>
          </a:p>
          <a:p>
            <a:pPr>
              <a:defRPr sz="1100">
                <a:solidFill>
                  <a:srgbClr val="1E293B"/>
                </a:solidFill>
                <a:latin typeface="Malgun Gothic"/>
              </a:defRPr>
            </a:pPr>
            <a:r>
              <a:t>우측 상단 [🚀 연구소 HW개발] 프리셋 클릭 ➔ [⚡ 원터치 입사 자동화 일괄 실행] 클릭! 1초 만에 사번, 이메일, 장비, 고정 IP가 배정되는 5단계 콘솔 확인!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743200"/>
            <a:ext cx="52120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t>미션 2. 신입사원 모바일 포털</a:t>
            </a:r>
          </a:p>
          <a:p>
            <a:pPr>
              <a:defRPr sz="1100">
                <a:solidFill>
                  <a:srgbClr val="1E293B"/>
                </a:solidFill>
                <a:latin typeface="Malgun Gothic"/>
              </a:defRPr>
            </a:pPr>
            <a:r>
              <a:t>완료 카드의 [📱 모바일 포털 바로 열기] 클릭! 첫 출근 D-Day, 제휴 사진관(패밀리포토하우스) 네이버 지도, 사원증 촬영, 12대 복리후생 탐색 후 각오 전송!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52120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t>미션 3. 관리자 실시간 접수 &amp; AI</a:t>
            </a:r>
          </a:p>
          <a:p>
            <a:pPr>
              <a:defRPr sz="1100">
                <a:solidFill>
                  <a:srgbClr val="1E293B"/>
                </a:solidFill>
                <a:latin typeface="Malgun Gothic"/>
              </a:defRPr>
            </a:pPr>
            <a:r>
              <a:t>[온보딩 여정] 탭 이동 ➔ 좌측 입사자 클릭 ➔ 방금 보낸 사원증 사진 원본 다운로드 &amp; AI 피플 애널리틱스 조기퇴사 위험 신호(Red Flag) 분석 확인!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4572000"/>
            <a:ext cx="52120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t>미션 4. 원터치 퇴사 처리</a:t>
            </a:r>
          </a:p>
          <a:p>
            <a:pPr>
              <a:defRPr sz="1100">
                <a:solidFill>
                  <a:srgbClr val="1E293B"/>
                </a:solidFill>
                <a:latin typeface="Malgun Gothic"/>
              </a:defRPr>
            </a:pPr>
            <a:r>
              <a:t>[퇴사자 권한 회수] 탭 ➔ 직원 선택 ➔ [🚨 원터치 종합 퇴사 즉시 실행] 클릭! 계정 즉시 잠금 + 자산 100% 일괄 반납(RETURNED) + [🖨️ A4 퇴사 확인서] 인쇄 확인!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560320" cy="320040"/>
          </a:xfrm>
          <a:prstGeom prst="roundRect">
            <a:avLst/>
          </a:prstGeom>
          <a:solidFill>
            <a:srgbClr val="EBF5FF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71E3"/>
                </a:solidFill>
                <a:latin typeface="Malgun Gothic"/>
              </a:defRPr>
            </a:pPr>
            <a:r>
              <a:t>• PART 3.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Malgun Gothic"/>
              </a:defRPr>
            </a:pPr>
            <a:r>
              <a:t>이 모든 게 0원(무료)으로 돌아간다고?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514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71E3"/>
                </a:solidFill>
                <a:latin typeface="Malgun Gothic"/>
              </a:defRPr>
            </a:pPr>
            <a:r>
              <a:t>Next.js 16 (App Router)</a:t>
            </a:r>
          </a:p>
          <a:p>
            <a:pPr>
              <a:spcAft>
                <a:spcPts val="1200"/>
              </a:spcAft>
              <a:defRPr sz="1000" b="1">
                <a:solidFill>
                  <a:srgbClr val="64748B"/>
                </a:solidFill>
                <a:latin typeface="Malgun Gothic"/>
              </a:defRPr>
            </a:pPr>
            <a:r>
              <a:t>초고속 모던 웹 프레임워크</a:t>
            </a:r>
          </a:p>
          <a:p>
            <a:pPr>
              <a:defRPr sz="1100">
                <a:solidFill>
                  <a:srgbClr val="1E293B"/>
                </a:solidFill>
                <a:latin typeface="Malgun Gothic"/>
              </a:defRPr>
            </a:pPr>
            <a:r>
              <a:t>• React 19 기반 반응형 웹</a:t>
            </a:r>
            <a:br/>
            <a:r>
              <a:t>• PC/태블릿/모바일 완벽 지원</a:t>
            </a:r>
            <a:br/>
            <a:r>
              <a:t>• Turbopack 번들러로 0.8초 빌드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737360"/>
            <a:ext cx="2514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71E3"/>
                </a:solidFill>
                <a:latin typeface="Malgun Gothic"/>
              </a:defRPr>
            </a:pPr>
            <a:r>
              <a:t>Supabase (PostgreSQL)</a:t>
            </a:r>
          </a:p>
          <a:p>
            <a:pPr>
              <a:spcAft>
                <a:spcPts val="1200"/>
              </a:spcAft>
              <a:defRPr sz="1000" b="1">
                <a:solidFill>
                  <a:srgbClr val="64748B"/>
                </a:solidFill>
                <a:latin typeface="Malgun Gothic"/>
              </a:defRPr>
            </a:pPr>
            <a:r>
              <a:t>무료 클라우드 데이터베이스</a:t>
            </a:r>
          </a:p>
          <a:p>
            <a:pPr>
              <a:defRPr sz="1100">
                <a:solidFill>
                  <a:srgbClr val="1E293B"/>
                </a:solidFill>
                <a:latin typeface="Malgun Gothic"/>
              </a:defRPr>
            </a:pPr>
            <a:r>
              <a:t>• 글로벌 1위 오픈소스 DB</a:t>
            </a:r>
            <a:br/>
            <a:r>
              <a:t>• 실시간 데이터 영구 보존</a:t>
            </a:r>
            <a:br/>
            <a:r>
              <a:t>• 강력한 보안(RLS) 및 Admin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737360"/>
            <a:ext cx="2514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71E3"/>
                </a:solidFill>
                <a:latin typeface="Malgun Gothic"/>
              </a:defRPr>
            </a:pPr>
            <a:r>
              <a:t>Vercel Edge Cloud</a:t>
            </a:r>
          </a:p>
          <a:p>
            <a:pPr>
              <a:spcAft>
                <a:spcPts val="1200"/>
              </a:spcAft>
              <a:defRPr sz="1000" b="1">
                <a:solidFill>
                  <a:srgbClr val="64748B"/>
                </a:solidFill>
                <a:latin typeface="Malgun Gothic"/>
              </a:defRPr>
            </a:pPr>
            <a:r>
              <a:t>클릭 한 번에 전 세계 배포</a:t>
            </a:r>
          </a:p>
          <a:p>
            <a:pPr>
              <a:defRPr sz="1100">
                <a:solidFill>
                  <a:srgbClr val="1E293B"/>
                </a:solidFill>
                <a:latin typeface="Malgun Gothic"/>
              </a:defRPr>
            </a:pPr>
            <a:r>
              <a:t>• GitHub 푸시 시 30초 무중단 배포</a:t>
            </a:r>
            <a:br/>
            <a:r>
              <a:t>• 글로벌 CDN 초고속 로딩</a:t>
            </a:r>
            <a:br/>
            <a:r>
              <a:t>• 도메인 자동 발급 (HTTPS 지원)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737360"/>
            <a:ext cx="2514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71E3"/>
                </a:solidFill>
                <a:latin typeface="Malgun Gothic"/>
              </a:defRPr>
            </a:pPr>
            <a:r>
              <a:t>Resend Email API</a:t>
            </a:r>
          </a:p>
          <a:p>
            <a:pPr>
              <a:spcAft>
                <a:spcPts val="1200"/>
              </a:spcAft>
              <a:defRPr sz="1000" b="1">
                <a:solidFill>
                  <a:srgbClr val="64748B"/>
                </a:solidFill>
                <a:latin typeface="Malgun Gothic"/>
              </a:defRPr>
            </a:pPr>
            <a:r>
              <a:t>신입사원 알림장 자동 발송</a:t>
            </a:r>
          </a:p>
          <a:p>
            <a:pPr>
              <a:defRPr sz="1100">
                <a:solidFill>
                  <a:srgbClr val="1E293B"/>
                </a:solidFill>
                <a:latin typeface="Malgun Gothic"/>
              </a:defRPr>
            </a:pPr>
            <a:r>
              <a:t>• 매달 3,000건 무료 이메일</a:t>
            </a:r>
            <a:br/>
            <a:r>
              <a:t>• 웰컴 메일 및 모바일 포털 링크</a:t>
            </a:r>
            <a:br/>
            <a:r>
              <a:t>• 회차별 설문 안내장 실시간 발송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560320" cy="320040"/>
          </a:xfrm>
          <a:prstGeom prst="roundRect">
            <a:avLst/>
          </a:prstGeom>
          <a:solidFill>
            <a:srgbClr val="EBF5FF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71E3"/>
                </a:solidFill>
                <a:latin typeface="Malgun Gothic"/>
              </a:defRPr>
            </a:pPr>
            <a:r>
              <a:t>• PART 4. TEAM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Malgun Gothic"/>
              </a:defRPr>
            </a:pPr>
            <a:r>
              <a:t>실습 2 (Hands-on): 2인 1조 '내 업무 기획서 10분 만에 뽑기'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6984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93C5FD"/>
                </a:solidFill>
                <a:latin typeface="Malgun Gothic"/>
              </a:defRPr>
            </a:pPr>
            <a:r>
              <a:t>📋 짝꿍과 함께 AI에게 복사해 넣을 프롬프트 (ChatGPT / Claude / Gemini 열기)</a:t>
            </a:r>
          </a:p>
          <a:p>
            <a:pPr>
              <a:defRPr sz="1200">
                <a:solidFill>
                  <a:srgbClr val="F1F5F9"/>
                </a:solidFill>
                <a:latin typeface="Malgun Gothic"/>
              </a:defRPr>
            </a:pPr>
            <a:r>
              <a:t>"나는 [우리 부서명] 담당자야. 우리 팀의 [아까 채팅창에 쓴 귀찮은 업무]를 웹 시스템으로 만들고 싶어. 너는 15년 차 수석 PM이야. 기술 용어 쓰지 말고, 현업의 업무 프로세스를 파악하기 위한 질문 3가지만 나에게 해줘."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106984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  <a:latin typeface="Malgun Gothic"/>
              </a:defRPr>
            </a:pPr>
            <a:r>
              <a:t>⏱️ 실습 순서 (총 10분 진행)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Malgun Gothic"/>
              </a:defRPr>
            </a:pPr>
            <a:r>
              <a:t>1. AI 챗봇을 열고 위 프롬프트를 붙여넣는다. (1분)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Malgun Gothic"/>
              </a:defRPr>
            </a:pPr>
            <a:r>
              <a:t>2. AI가 던진 3가지 질문에 짝꿍과 상의하여 답을 적어준다. (4분)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Malgun Gothic"/>
              </a:defRPr>
            </a:pPr>
            <a:r>
              <a:t>3. 답변 후: "이 내용을 바탕으로 1장짜리 PRD(제품 요구사항 정의서)를 작성해줘"라고 요청한다. (2분)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Malgun Gothic"/>
              </a:defRPr>
            </a:pPr>
            <a:r>
              <a:t>4. 완성된 기획서를 확인하고 팀원들과 나눌 핵심 아이디어를 정리한다. (3분)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560320" cy="320040"/>
          </a:xfrm>
          <a:prstGeom prst="roundRect">
            <a:avLst/>
          </a:prstGeom>
          <a:solidFill>
            <a:srgbClr val="EBF5FF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71E3"/>
                </a:solidFill>
                <a:latin typeface="Malgun Gothic"/>
              </a:defRPr>
            </a:pPr>
            <a:r>
              <a:t>• PART 5. SHARING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Malgun Gothic"/>
              </a:defRPr>
            </a:pPr>
            <a:r>
              <a:t>실습 결과 공유: 우리가 10분 만에 만든 것들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71E3"/>
                </a:solidFill>
                <a:latin typeface="Malgun Gothic"/>
              </a:defRPr>
            </a:pPr>
            <a:r>
              <a:t>총무팀 아이디어</a:t>
            </a:r>
          </a:p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  <a:latin typeface="Malgun Gothic"/>
              </a:defRPr>
            </a:pPr>
            <a:r>
              <a:t>법인차량 중복 예약 방지 포털</a:t>
            </a:r>
          </a:p>
          <a:p>
            <a:pPr>
              <a:defRPr sz="1200">
                <a:solidFill>
                  <a:srgbClr val="1E293B"/>
                </a:solidFill>
                <a:latin typeface="Malgun Gothic"/>
              </a:defRPr>
            </a:pPr>
            <a:r>
              <a:t>• 모바일 캘린더 실시간 차량 현황</a:t>
            </a:r>
            <a:br/>
            <a:r>
              <a:t>• 미반납 시 카톡 알림 자동 발송</a:t>
            </a:r>
            <a:br/>
            <a:r>
              <a:t>• 유류비 영수증 자동 집계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73736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71E3"/>
                </a:solidFill>
                <a:latin typeface="Malgun Gothic"/>
              </a:defRPr>
            </a:pPr>
            <a:r>
              <a:t>영업팀 아이디어</a:t>
            </a:r>
          </a:p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  <a:latin typeface="Malgun Gothic"/>
              </a:defRPr>
            </a:pPr>
            <a:r>
              <a:t>1초 원클릭 PDF 견적서 생성기</a:t>
            </a:r>
          </a:p>
          <a:p>
            <a:pPr>
              <a:defRPr sz="1200">
                <a:solidFill>
                  <a:srgbClr val="1E293B"/>
                </a:solidFill>
                <a:latin typeface="Malgun Gothic"/>
              </a:defRPr>
            </a:pPr>
            <a:r>
              <a:t>• 고객사 및 수량 선택 시 단가 자동 계산</a:t>
            </a:r>
            <a:br/>
            <a:r>
              <a:t>• 회사 직인이 찍힌 A4 PDF 즉시 출력</a:t>
            </a:r>
            <a:br/>
            <a:r>
              <a:t>• 견적 이력 엑셀 다운로드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73736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71E3"/>
                </a:solidFill>
                <a:latin typeface="Malgun Gothic"/>
              </a:defRPr>
            </a:pPr>
            <a:r>
              <a:t>법무/계약 아이디어</a:t>
            </a:r>
          </a:p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  <a:latin typeface="Malgun Gothic"/>
              </a:defRPr>
            </a:pPr>
            <a:r>
              <a:t>표준 계약서 필수 조항 체크 웹</a:t>
            </a:r>
          </a:p>
          <a:p>
            <a:pPr>
              <a:defRPr sz="1200">
                <a:solidFill>
                  <a:srgbClr val="1E293B"/>
                </a:solidFill>
                <a:latin typeface="Malgun Gothic"/>
              </a:defRPr>
            </a:pPr>
            <a:r>
              <a:t>• 계약서 PDF 드래그앤드롭 업로드</a:t>
            </a:r>
            <a:br/>
            <a:r>
              <a:t>• AI가 필수 누락 조항 3단계 검토</a:t>
            </a:r>
            <a:br/>
            <a:r>
              <a:t>• 독소 조항 발견 시 경고 배너 표시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560320" cy="320040"/>
          </a:xfrm>
          <a:prstGeom prst="roundRect">
            <a:avLst/>
          </a:prstGeom>
          <a:solidFill>
            <a:srgbClr val="EBF5FF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71E3"/>
                </a:solidFill>
                <a:latin typeface="Malgun Gothic"/>
              </a:defRPr>
            </a:pPr>
            <a:r>
              <a:t>• PART 5.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Malgun Gothic"/>
              </a:defRPr>
            </a:pPr>
            <a:r>
              <a:t>AI 협업 성공을 위한 꿀팁 (Do &amp; Don't)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 b="1">
                <a:solidFill>
                  <a:srgbClr val="10B981"/>
                </a:solidFill>
                <a:latin typeface="Malgun Gothic"/>
              </a:defRPr>
            </a:pPr>
            <a:r>
              <a:t>⭕ 반드시 해야 할 것 (DO)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  <a:latin typeface="Malgun Gothic"/>
              </a:defRPr>
            </a:pPr>
            <a:r>
              <a:t>• '화면 1개, 버튼 1개'씩 벽돌 쌓듯이 대화하기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  <a:latin typeface="Malgun Gothic"/>
              </a:defRPr>
            </a:pPr>
            <a:r>
              <a:t>• 눈에 보이는 UI(화면)부터 먼저 만들어 검증하기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  <a:latin typeface="Malgun Gothic"/>
              </a:defRPr>
            </a:pPr>
            <a:r>
              <a:t>• 에러 나면 에러 메시지 통째로 복사해서 던지기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  <a:latin typeface="Malgun Gothic"/>
              </a:defRPr>
            </a:pPr>
            <a:r>
              <a:t>• '왜 이렇게 짰는지 설명해줘' 물어보며 배우기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 b="1">
                <a:solidFill>
                  <a:srgbClr val="EF4444"/>
                </a:solidFill>
                <a:latin typeface="Malgun Gothic"/>
              </a:defRPr>
            </a:pPr>
            <a:r>
              <a:t>❌ 절대 하지 말아야 할 것 (DON'T)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  <a:latin typeface="Malgun Gothic"/>
              </a:defRPr>
            </a:pPr>
            <a:r>
              <a:t>• 한 번에 모든 기능을 다 넣으려고 욕심부리기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  <a:latin typeface="Malgun Gothic"/>
              </a:defRPr>
            </a:pPr>
            <a:r>
              <a:t>• DB 설치나 서버 인프라부터 고민하다 지치기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  <a:latin typeface="Malgun Gothic"/>
              </a:defRPr>
            </a:pPr>
            <a:r>
              <a:t>• 에러 떴을 때 혼자 고민하다 포기하기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  <a:latin typeface="Malgun Gothic"/>
              </a:defRPr>
            </a:pPr>
            <a:r>
              <a:t>• 기획 문서(PRD) 없이 바로 코딩부터 시작하기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560320" cy="320040"/>
          </a:xfrm>
          <a:prstGeom prst="roundRect">
            <a:avLst/>
          </a:prstGeom>
          <a:solidFill>
            <a:srgbClr val="EBF5FF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71E3"/>
                </a:solidFill>
                <a:latin typeface="Malgun Gothic"/>
              </a:defRPr>
            </a:pPr>
            <a:r>
              <a:t>• PART 5.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Malgun Gothic"/>
              </a:defRPr>
            </a:pPr>
            <a:r>
              <a:t>엔터프라이즈의 마침표: 문서화와 팝업 매뉴얼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t>1. 사용자 &amp; 관리자 매뉴얼</a:t>
            </a:r>
          </a:p>
          <a:p>
            <a:pPr>
              <a:spcAft>
                <a:spcPts val="1200"/>
              </a:spcAft>
              <a:defRPr sz="1100" b="1">
                <a:solidFill>
                  <a:srgbClr val="0071E3"/>
                </a:solidFill>
                <a:latin typeface="Courier New"/>
              </a:defRPr>
            </a:pPr>
            <a:r>
              <a:t>MANUAL.md</a:t>
            </a:r>
          </a:p>
          <a:p>
            <a:pPr>
              <a:defRPr sz="1100">
                <a:solidFill>
                  <a:srgbClr val="1E293B"/>
                </a:solidFill>
                <a:latin typeface="Malgun Gothic"/>
              </a:defRPr>
            </a:pPr>
            <a:r>
              <a:t>• 누가 봐도 1분 만에 이해하는 사용 가이드</a:t>
            </a:r>
            <a:br/>
            <a:r>
              <a:t>• 신입사원 모바일 포털 및 관리자 대시보드</a:t>
            </a:r>
            <a:br/>
            <a:r>
              <a:t>• 회차별 설문 및 IT 자산 관리 매뉴얼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73736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t>2. 시스템 재현 설계명세서</a:t>
            </a:r>
          </a:p>
          <a:p>
            <a:pPr>
              <a:spcAft>
                <a:spcPts val="1200"/>
              </a:spcAft>
              <a:defRPr sz="1100" b="1">
                <a:solidFill>
                  <a:srgbClr val="0071E3"/>
                </a:solidFill>
                <a:latin typeface="Courier New"/>
              </a:defRPr>
            </a:pPr>
            <a:r>
              <a:t>SPECIFICATION.md</a:t>
            </a:r>
          </a:p>
          <a:p>
            <a:pPr>
              <a:defRPr sz="1100">
                <a:solidFill>
                  <a:srgbClr val="1E293B"/>
                </a:solidFill>
                <a:latin typeface="Malgun Gothic"/>
              </a:defRPr>
            </a:pPr>
            <a:r>
              <a:t>• 데이터베이스 ERD 및 API 규격서</a:t>
            </a:r>
            <a:br/>
            <a:r>
              <a:t>• AI 위험 분석 알고리즘 수식 정의</a:t>
            </a:r>
            <a:br/>
            <a:r>
              <a:t>• 누구나 동일 시스템을 다시 만들 수 있는 청사진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73736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t>3. 대시보드 30초 팝업 가이드</a:t>
            </a:r>
          </a:p>
          <a:p>
            <a:pPr>
              <a:spcAft>
                <a:spcPts val="1200"/>
              </a:spcAft>
              <a:defRPr sz="1100" b="1">
                <a:solidFill>
                  <a:srgbClr val="0071E3"/>
                </a:solidFill>
                <a:latin typeface="Courier New"/>
              </a:defRPr>
            </a:pPr>
            <a:r>
              <a:t>UserManualModal</a:t>
            </a:r>
          </a:p>
          <a:p>
            <a:pPr>
              <a:defRPr sz="1100">
                <a:solidFill>
                  <a:srgbClr val="1E293B"/>
                </a:solidFill>
                <a:latin typeface="Malgun Gothic"/>
              </a:defRPr>
            </a:pPr>
            <a:r>
              <a:t>• 사이트 접속 즉시 30초 체험 팝업 자동 호출</a:t>
            </a:r>
            <a:br/>
            <a:r>
              <a:t>• 별도 교육 없이도 동료들이 즉시 사용</a:t>
            </a:r>
            <a:br/>
            <a:r>
              <a:t>• 언제든 다시 열어볼 수 있는 상시 매뉴얼 버튼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560320" cy="320040"/>
          </a:xfrm>
          <a:prstGeom prst="roundRect">
            <a:avLst/>
          </a:prstGeom>
          <a:solidFill>
            <a:srgbClr val="EBF5FF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71E3"/>
                </a:solidFill>
                <a:latin typeface="Malgun Gothic"/>
              </a:defRPr>
            </a:pPr>
            <a:r>
              <a:t>• PART 5.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Malgun Gothic"/>
              </a:defRPr>
            </a:pPr>
            <a:r>
              <a:t>자주 묻는 질문 (FAQ) &amp; 자유 Q&amp;A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6984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200" b="1">
                <a:solidFill>
                  <a:srgbClr val="0071E3"/>
                </a:solidFill>
                <a:latin typeface="Malgun Gothic"/>
              </a:defRPr>
            </a:pPr>
            <a:r>
              <a:t>Q1. 사내 보안 규정상 외부 클라우드(DB/Vercel) 써도 되나요?</a:t>
            </a:r>
          </a:p>
          <a:p>
            <a:pPr>
              <a:defRPr sz="1100">
                <a:solidFill>
                  <a:srgbClr val="1E293B"/>
                </a:solidFill>
                <a:latin typeface="Malgun Gothic"/>
              </a:defRPr>
            </a:pPr>
            <a:r>
              <a:t>➔ 프로토타입 검증 단계에서는 더미(가상) 데이터로 무료 클라우드를 활용하고, 전사 도입 시 사내 On-Premise 서버나 전용 사내망으로 이전할 수 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106984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200" b="1">
                <a:solidFill>
                  <a:srgbClr val="0071E3"/>
                </a:solidFill>
                <a:latin typeface="Malgun Gothic"/>
              </a:defRPr>
            </a:pPr>
            <a:r>
              <a:t>Q2. 우리 회사 내부망 ERP나 그룹웨어와도 실제로 붙일 수 있나요?</a:t>
            </a:r>
          </a:p>
          <a:p>
            <a:pPr>
              <a:defRPr sz="1100">
                <a:solidFill>
                  <a:srgbClr val="1E293B"/>
                </a:solidFill>
                <a:latin typeface="Malgun Gothic"/>
              </a:defRPr>
            </a:pPr>
            <a:r>
              <a:t>➔ 네! REST API나 사내 DB View/Stored Procedure 연계로 100% 연동 가능합니다. (HR Sync에 실제 연동 엔드포인트 설계 완료)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106984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200" b="1">
                <a:solidFill>
                  <a:srgbClr val="0071E3"/>
                </a:solidFill>
                <a:latin typeface="Malgun Gothic"/>
              </a:defRPr>
            </a:pPr>
            <a:r>
              <a:t>Q3. 제가 코드를 하나도 모르는데 유지보수를 어떻게 하나요?</a:t>
            </a:r>
          </a:p>
          <a:p>
            <a:pPr>
              <a:defRPr sz="1100">
                <a:solidFill>
                  <a:srgbClr val="1E293B"/>
                </a:solidFill>
                <a:latin typeface="Malgun Gothic"/>
              </a:defRPr>
            </a:pPr>
            <a:r>
              <a:t>➔ 코드를 직접 고칠 필요 없이, AI에게 '이 부분 글자 크기 키워줘', '필터 추가해줘'라고 말하고 복사-붙여넣기만 하면 됩니다.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6696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600"/>
              </a:spcAft>
              <a:defRPr sz="1300" b="1">
                <a:solidFill>
                  <a:srgbClr val="0071E3"/>
                </a:solidFill>
                <a:latin typeface="Malgun Gothic"/>
              </a:defRPr>
            </a:pPr>
            <a:r>
              <a:t>WORKSHOP CLOSING</a:t>
            </a:r>
          </a:p>
          <a:p>
            <a:pPr>
              <a:spcAft>
                <a:spcPts val="2000"/>
              </a:spcAft>
              <a:defRPr sz="2800" b="1">
                <a:solidFill>
                  <a:srgbClr val="0F172A"/>
                </a:solidFill>
                <a:latin typeface="Malgun Gothic"/>
              </a:defRPr>
            </a:pPr>
            <a:r>
              <a:t>"가장 훌륭한 시스템은,</a:t>
            </a:r>
            <a:br/>
            <a:r>
              <a:t>현업에서 매일 고통받는 당신의 머릿속에 있습니다."</a:t>
            </a:r>
          </a:p>
          <a:p>
            <a:pPr>
              <a:spcAft>
                <a:spcPts val="2600"/>
              </a:spcAft>
              <a:defRPr sz="1400">
                <a:solidFill>
                  <a:srgbClr val="64748B"/>
                </a:solidFill>
                <a:latin typeface="Malgun Gothic"/>
              </a:defRPr>
            </a:pPr>
            <a:r>
              <a:t>오늘 작성하신 1장의 기획서로 오늘 퇴근 전 AI에게 첫 화면을 요청해보세요!</a:t>
            </a:r>
            <a:br/>
            <a:r>
              <a:t>다음 주 월요일, 우리 팀의 일하는 방식이 완전히 달라질 것입니다.</a:t>
            </a:r>
          </a:p>
          <a:p>
            <a:pPr>
              <a:defRPr sz="1200" b="1">
                <a:solidFill>
                  <a:srgbClr val="0071E3"/>
                </a:solidFill>
                <a:latin typeface="Malgun Gothic"/>
              </a:defRPr>
            </a:pPr>
            <a:r>
              <a:t>🌐 라이브 사이트: https://hr-sync-delta.vercel.app  |  🐙 깃허브: https://github.com/kimyeasll-byte/hr-sync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